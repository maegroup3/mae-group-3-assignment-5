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2BF7-2F0F-5904-3FB3-06FDE950A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B659A-116C-7B6C-48C6-24522BFF7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42206-8B6B-7A87-1987-4AF370F71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D2A30-0FB9-5F6F-9213-7A58121B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16DCD-2DD5-300F-F70E-9086E861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B25F-5B1D-6FA2-6CBC-EECA9273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EF3DB-94B3-E486-C2BD-EA4073CD4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973B9-7B8A-DDFA-5F90-649164493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21661-BAC2-F5B1-F74E-6729D6CE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09CD7-C8A9-CB41-4F8B-5E48C6F1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27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18976-A825-DA39-027F-C064EEF2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07D33-68DB-50D7-26B3-3E797E0A3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739BA-A6A1-DDA8-C03E-694A8E113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76085-0203-FA76-B3DB-E3BBCDB8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4278-D405-70BB-4E24-71DBEC067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24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AA645-87A9-B241-459A-28EE7A6D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E0D5F-8920-82B7-07C3-465EC00A8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C8BBC-3BAD-2823-4E14-5A6ABFF4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92500-FF83-213E-4ABF-695258C1B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0CEF9-DFDE-85F8-FFDA-5DDC906F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756EC-9F25-D0D2-6678-892455C8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4AC2-9C60-FED9-12A5-A000A0652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503C3-A1B3-7751-6467-5DB49E8B4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BB3C3-11CC-CCC7-65E6-F659544DB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24215-4B50-8919-5333-F4C5C798F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84FA0-139F-BCCC-B2FF-67CFC6F8E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6BBC3F-1D1F-A189-6EB4-13858A80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6D4AE2-3B59-C9F6-27E3-E4BED464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A1544-1D2A-2477-EDD3-C5A7BF18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62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9B6D1-847D-B67A-6FF9-7508DC7CB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999BB9-2B57-37C2-BA04-6623D82A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25688A-9169-DF6E-E404-AC29E6526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2673-E9FE-4AF4-F2D9-5DC46FC9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86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04D9EE-252A-5776-2066-0F047701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385A36-26F7-97DE-B068-2A941C27E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6E3BE-DC0B-DFCF-434E-A511A22BC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28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C7C4-CBEE-5B79-CC48-1DBF1C07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6589-9B9B-3667-6C47-43F61BBC7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4982C-39B7-17B0-BFD9-42C1B4747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9B7FE-C3FF-CAC7-E6CA-71CFAF46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A9A32-4786-A894-8DFE-A2666309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195A8-DBD2-A69C-1DD6-D472035A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9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FDDE5-605C-EDC0-5FCA-A37017CF0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197BC-A2A3-DA0A-9C22-716D07C21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290B8-9AAD-3F18-ECF0-E613AAA6E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C19F2-9C7A-1137-9FD9-4647721AF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58947-47DE-2F03-1231-A8E77AA7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A5A9F-0420-8376-BA6C-F40FE2C06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45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F389-0F49-C9EB-3BFB-68A4EB706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A88D5-B9E9-6550-C904-31647D353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B955D-4CC0-202A-E737-94AF9C32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0C6C8-82F6-CA11-32DA-E68600AF2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9DEB2-24BA-D0AE-345A-7DAC5E90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84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13055-BF14-2E40-93A8-785109988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AB052-F431-AA41-2729-35314B3DC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A79C6-2CC9-F3C6-71E6-D450F7DD7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C869D-0ECE-46D0-AAF2-343A4C232A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0817A-CB75-3253-18A5-336BAC2C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9927F-517F-9F61-A5C5-77292B135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4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DEB4E-F485-C4C4-2837-B7DE2AF17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C7DDB-0BB3-BDA5-B3FB-ABCD71839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D9A94-BAE4-AE8F-651A-4ED28F9B6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C869D-0ECE-46D0-AAF2-343A4C232A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D968E-0A01-7D1A-223D-B5E43BE33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53586-3445-4A37-A65C-9E1CFFC6A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B4215-7F40-47A2-BAD7-5A956D6CE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7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A486-A765-A637-B0E1-2C5C58B1F5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NUMERICAL ANALYSIS 1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GROUP 3 MAE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B68B5-1F58-D1A6-156D-B4921E85C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5583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u="sng" dirty="0"/>
              <a:t>GROUP MEMBERS:</a:t>
            </a:r>
          </a:p>
          <a:p>
            <a:pPr algn="l"/>
            <a:r>
              <a:rPr lang="en-US" dirty="0"/>
              <a:t>1. NAKAKANDE RACHEAL BU/UP/2025/05767</a:t>
            </a:r>
          </a:p>
          <a:p>
            <a:pPr algn="l"/>
            <a:r>
              <a:rPr lang="en-US" dirty="0"/>
              <a:t>2. LYAKA AMELIA KIRABO BU/UP/2025/05765</a:t>
            </a:r>
          </a:p>
          <a:p>
            <a:pPr algn="l"/>
            <a:r>
              <a:rPr lang="en-US" dirty="0"/>
              <a:t>3. SSENYONJO TREVOR BU/UP/2025/05769</a:t>
            </a:r>
          </a:p>
          <a:p>
            <a:pPr algn="l"/>
            <a:r>
              <a:rPr lang="en-US" dirty="0"/>
              <a:t>4. HENRY HANNINGTON DRICHI BU/UP/2025/4963</a:t>
            </a:r>
          </a:p>
          <a:p>
            <a:pPr algn="l"/>
            <a:r>
              <a:rPr lang="en-US"/>
              <a:t>5. </a:t>
            </a:r>
            <a:r>
              <a:rPr lang="en-US" dirty="0"/>
              <a:t>ATWANZIRE VICTOR BU/UP/2025/5176</a:t>
            </a:r>
          </a:p>
        </p:txBody>
      </p:sp>
    </p:spTree>
    <p:extLst>
      <p:ext uri="{BB962C8B-B14F-4D97-AF65-F5344CB8AC3E}">
        <p14:creationId xmlns:p14="http://schemas.microsoft.com/office/powerpoint/2010/main" val="2622899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26851E-BC79-CD94-65CE-126ABA0F08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21895"/>
                <a:ext cx="10515600" cy="54550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1) </a:t>
                </a:r>
                <a:r>
                  <a:rPr lang="en-US" b="1" dirty="0"/>
                  <a:t>Use Newton’s method to find the zeros of f(x)=1 - 3x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/>
                  <a:t> * (x e^x) accurate to five decimal places.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  <a:r>
                  <a:rPr lang="en-US" sz="3200" dirty="0"/>
                  <a:t>Function: f(x)=1-3x+0.5*x*exp(x)</a:t>
                </a:r>
              </a:p>
              <a:p>
                <a:pPr marL="0" indent="0">
                  <a:buNone/>
                </a:pPr>
                <a:r>
                  <a:rPr lang="en-US" sz="3200" dirty="0"/>
                  <a:t>Derivative: f'(x) = -3 + 0.5*exp(x)*(1+x)</a:t>
                </a:r>
              </a:p>
              <a:p>
                <a:pPr marL="0" indent="0">
                  <a:buNone/>
                </a:pPr>
                <a:r>
                  <a:rPr lang="en-US" sz="3200" dirty="0"/>
                  <a:t>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32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200" dirty="0"/>
                  <a:t>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sz="32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320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sz="320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320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Iteration Table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200" dirty="0"/>
                  <a:t>=0.35, Tol =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3200" dirty="0"/>
                  <a:t>):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26851E-BC79-CD94-65CE-126ABA0F08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21895"/>
                <a:ext cx="10515600" cy="5455068"/>
              </a:xfrm>
              <a:blipFill>
                <a:blip r:embed="rId2"/>
                <a:stretch>
                  <a:fillRect l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7168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3FBFD-331E-B7BF-F0A0-D88BB31AD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510988"/>
            <a:ext cx="5157787" cy="567867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u="sng" dirty="0"/>
              <a:t>MATLAB CODE – WHILE loop: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% Newton's Method using while loop</a:t>
            </a:r>
          </a:p>
          <a:p>
            <a:pPr marL="0" indent="0">
              <a:buNone/>
            </a:pPr>
            <a:r>
              <a:rPr lang="en-US" dirty="0"/>
              <a:t>f = @(x) 1 - 3*x + 0.5*x*exp(x);</a:t>
            </a:r>
          </a:p>
          <a:p>
            <a:pPr marL="0" indent="0">
              <a:buNone/>
            </a:pPr>
            <a:r>
              <a:rPr lang="en-US" dirty="0"/>
              <a:t>df = @(x) -3 + 0.5*exp(x). *(1 + x);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x0= 1;         % initial guess</a:t>
            </a:r>
          </a:p>
          <a:p>
            <a:pPr marL="0" indent="0">
              <a:buNone/>
            </a:pPr>
            <a:r>
              <a:rPr lang="en-US" dirty="0"/>
              <a:t>tol = 1e-5;    % tolerance</a:t>
            </a:r>
          </a:p>
          <a:p>
            <a:pPr marL="0" indent="0">
              <a:buNone/>
            </a:pPr>
            <a:r>
              <a:rPr lang="en-US" dirty="0"/>
              <a:t>maxIter = 100;     % maximum iterations</a:t>
            </a:r>
          </a:p>
          <a:p>
            <a:pPr marL="0" indent="0">
              <a:buNone/>
            </a:pPr>
            <a:r>
              <a:rPr lang="en-US" dirty="0"/>
              <a:t>iter = 0;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x = x0;</a:t>
            </a:r>
          </a:p>
          <a:p>
            <a:pPr marL="0" indent="0">
              <a:buNone/>
            </a:pPr>
            <a:r>
              <a:rPr lang="en-US" dirty="0"/>
              <a:t>while iter &lt; maxIter</a:t>
            </a:r>
          </a:p>
          <a:p>
            <a:pPr marL="0" indent="0">
              <a:buNone/>
            </a:pPr>
            <a:r>
              <a:rPr lang="en-US" dirty="0"/>
              <a:t>    x_new = x - f(x)/df(x);</a:t>
            </a:r>
          </a:p>
          <a:p>
            <a:pPr marL="0" indent="0">
              <a:buNone/>
            </a:pPr>
            <a:r>
              <a:rPr lang="en-US" dirty="0"/>
              <a:t>    if abs (x_new - x) &lt; tol</a:t>
            </a:r>
          </a:p>
          <a:p>
            <a:pPr marL="0" indent="0">
              <a:buNone/>
            </a:pPr>
            <a:r>
              <a:rPr lang="en-US" dirty="0"/>
              <a:t>        break;</a:t>
            </a:r>
          </a:p>
          <a:p>
            <a:pPr marL="0" indent="0">
              <a:buNone/>
            </a:pPr>
            <a:r>
              <a:rPr lang="en-US" dirty="0"/>
              <a:t>    end</a:t>
            </a:r>
          </a:p>
          <a:p>
            <a:pPr marL="0" indent="0">
              <a:buNone/>
            </a:pPr>
            <a:r>
              <a:rPr lang="en-US" dirty="0"/>
              <a:t>    x = x_new;</a:t>
            </a:r>
          </a:p>
          <a:p>
            <a:pPr marL="0" indent="0">
              <a:buNone/>
            </a:pPr>
            <a:r>
              <a:rPr lang="en-US" dirty="0"/>
              <a:t> iter = iter + 1;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fprintf ('Root ≈ %.5f after %d iterations\n', x_new, iter);</a:t>
            </a:r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658B84-9D0B-4F93-CE95-A376E7FBAE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510988"/>
            <a:ext cx="5183188" cy="567867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u="sng" dirty="0"/>
              <a:t>MATLAB CODE - FOR loop: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% Newton's Method using for loop</a:t>
            </a:r>
          </a:p>
          <a:p>
            <a:pPr marL="0" indent="0">
              <a:buNone/>
            </a:pPr>
            <a:r>
              <a:rPr lang="en-US" dirty="0"/>
              <a:t>f = @(x) 1 - 3*x + 0.5*x*exp(x);</a:t>
            </a:r>
          </a:p>
          <a:p>
            <a:pPr marL="0" indent="0">
              <a:buNone/>
            </a:pPr>
            <a:r>
              <a:rPr lang="en-US" dirty="0"/>
              <a:t>df = @(x) -3 + 0.5*exp(x). *(1 + x);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x0 = 1;              % initial guess</a:t>
            </a:r>
          </a:p>
          <a:p>
            <a:pPr marL="0" indent="0">
              <a:buNone/>
            </a:pPr>
            <a:r>
              <a:rPr lang="en-US" dirty="0"/>
              <a:t>tol = 1e-5;                      % tolerance</a:t>
            </a:r>
          </a:p>
          <a:p>
            <a:pPr marL="0" indent="0">
              <a:buNone/>
            </a:pPr>
            <a:r>
              <a:rPr lang="en-US" dirty="0"/>
              <a:t>maxIter = 100;      % maximum iterations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x = x0;</a:t>
            </a:r>
          </a:p>
          <a:p>
            <a:pPr marL="0" indent="0">
              <a:buNone/>
            </a:pPr>
            <a:r>
              <a:rPr lang="en-US" dirty="0"/>
              <a:t>for iter = 1: maxIter</a:t>
            </a:r>
          </a:p>
          <a:p>
            <a:pPr marL="0" indent="0">
              <a:buNone/>
            </a:pPr>
            <a:r>
              <a:rPr lang="en-US" dirty="0"/>
              <a:t>    x_new = x - f(x)/df(x);</a:t>
            </a:r>
          </a:p>
          <a:p>
            <a:pPr marL="0" indent="0">
              <a:buNone/>
            </a:pPr>
            <a:r>
              <a:rPr lang="en-US" dirty="0"/>
              <a:t>    if abs (x_new - x) &lt; tol</a:t>
            </a:r>
          </a:p>
          <a:p>
            <a:pPr marL="0" indent="0">
              <a:buNone/>
            </a:pPr>
            <a:r>
              <a:rPr lang="en-US" dirty="0"/>
              <a:t>        break;</a:t>
            </a:r>
          </a:p>
          <a:p>
            <a:pPr marL="0" indent="0">
              <a:buNone/>
            </a:pPr>
            <a:r>
              <a:rPr lang="en-US" dirty="0"/>
              <a:t>    end</a:t>
            </a:r>
          </a:p>
          <a:p>
            <a:pPr marL="0" indent="0">
              <a:buNone/>
            </a:pPr>
            <a:r>
              <a:rPr lang="en-US" dirty="0"/>
              <a:t>    x = x_new;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fprintf ('Root ≈ %.5f after %d iterations\n', x_new, iter);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9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0696A-38F5-FB20-2620-F1BEAE860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573741"/>
            <a:ext cx="5157787" cy="561592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b="1" u="sng" dirty="0"/>
              <a:t>pseudocode code:</a:t>
            </a:r>
            <a:endParaRPr lang="en-US" sz="2900" dirty="0"/>
          </a:p>
          <a:p>
            <a:pPr marL="0" indent="0">
              <a:buNone/>
            </a:pPr>
            <a:r>
              <a:rPr lang="en-US" sz="2900" dirty="0"/>
              <a:t>Algorithm Newton Method</a:t>
            </a:r>
          </a:p>
          <a:p>
            <a:pPr marL="0" indent="0">
              <a:buNone/>
            </a:pPr>
            <a:r>
              <a:rPr lang="en-US" sz="2900" dirty="0"/>
              <a:t>Input: initial guess x0, tolerance tol, max iterations N</a:t>
            </a:r>
          </a:p>
          <a:p>
            <a:pPr marL="0" indent="0">
              <a:buNone/>
            </a:pPr>
            <a:r>
              <a:rPr lang="en-US" sz="2900" dirty="0"/>
              <a:t>Output: approximate root</a:t>
            </a:r>
          </a:p>
          <a:p>
            <a:pPr marL="0" indent="0">
              <a:buNone/>
            </a:pPr>
            <a:r>
              <a:rPr lang="en-US" sz="2900" dirty="0"/>
              <a:t>Set x = x0</a:t>
            </a:r>
          </a:p>
          <a:p>
            <a:pPr marL="0" indent="0">
              <a:buNone/>
            </a:pPr>
            <a:r>
              <a:rPr lang="en-US" sz="2900" dirty="0"/>
              <a:t>For k = 1 to N</a:t>
            </a:r>
          </a:p>
          <a:p>
            <a:pPr marL="0" indent="0">
              <a:buNone/>
            </a:pPr>
            <a:r>
              <a:rPr lang="en-US" sz="2900" dirty="0"/>
              <a:t>    Compute f(x) = 1 - 3x + 0.5*x*exp(x)</a:t>
            </a:r>
          </a:p>
          <a:p>
            <a:pPr marL="0" indent="0">
              <a:buNone/>
            </a:pPr>
            <a:r>
              <a:rPr lang="en-US" sz="2900" dirty="0"/>
              <a:t>    Compute f'(x) = -3 + 0.5*exp(x)*(1 + x)</a:t>
            </a:r>
          </a:p>
          <a:p>
            <a:pPr marL="0" indent="0">
              <a:buNone/>
            </a:pPr>
            <a:r>
              <a:rPr lang="en-US" sz="2900" dirty="0"/>
              <a:t>    x_new = x - f(x)/f'(x)</a:t>
            </a:r>
          </a:p>
          <a:p>
            <a:pPr marL="0" indent="0">
              <a:buNone/>
            </a:pPr>
            <a:r>
              <a:rPr lang="en-US" sz="2900" dirty="0"/>
              <a:t>    If |x_new - x| &lt; tol</a:t>
            </a:r>
          </a:p>
          <a:p>
            <a:pPr marL="0" indent="0">
              <a:buNone/>
            </a:pPr>
            <a:r>
              <a:rPr lang="en-US" sz="2900" dirty="0"/>
              <a:t>        Return x_new</a:t>
            </a:r>
          </a:p>
          <a:p>
            <a:pPr marL="0" indent="0">
              <a:buNone/>
            </a:pPr>
            <a:r>
              <a:rPr lang="en-US" sz="2900" dirty="0"/>
              <a:t>    EndIf</a:t>
            </a:r>
          </a:p>
          <a:p>
            <a:pPr marL="0" indent="0">
              <a:buNone/>
            </a:pPr>
            <a:r>
              <a:rPr lang="en-US" sz="2900" dirty="0"/>
              <a:t>    Set x = x_new</a:t>
            </a:r>
          </a:p>
          <a:p>
            <a:pPr marL="0" indent="0">
              <a:buNone/>
            </a:pPr>
            <a:r>
              <a:rPr lang="en-US" sz="2900" dirty="0"/>
              <a:t>EndFor</a:t>
            </a:r>
          </a:p>
          <a:p>
            <a:pPr marL="0" indent="0">
              <a:buNone/>
            </a:pPr>
            <a:r>
              <a:rPr lang="en-US" sz="2900" dirty="0"/>
              <a:t>Return x_new</a:t>
            </a:r>
          </a:p>
          <a:p>
            <a:pPr marL="0" indent="0">
              <a:buNone/>
            </a:pPr>
            <a:r>
              <a:rPr lang="en-US" sz="2900" dirty="0"/>
              <a:t>End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ED1D69-D4B7-62E7-5682-D3E3B0F206F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2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75"/>
          <a:stretch>
            <a:fillRect/>
          </a:stretch>
        </p:blipFill>
        <p:spPr bwMode="auto">
          <a:xfrm>
            <a:off x="6570391" y="573088"/>
            <a:ext cx="4386806" cy="56165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243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5CEC6E5-C368-F0E5-D11F-3FB15D75AE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127117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2700" b="1" u="sng" dirty="0"/>
                  <a:t>2) SECANT METHOD</a:t>
                </a:r>
                <a:br>
                  <a:rPr lang="en-US" sz="2700" b="1" dirty="0"/>
                </a:br>
                <a:r>
                  <a:rPr lang="en-US" sz="2700" b="1" dirty="0"/>
                  <a:t>Find the positive solution of f(x) = x – 2sinx = 0 by the secant method, starting with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7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700" b="1" dirty="0"/>
                  <a:t>= 2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7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700" b="1" dirty="0"/>
                  <a:t>= 1.9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5CEC6E5-C368-F0E5-D11F-3FB15D75AE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1271170"/>
              </a:xfrm>
              <a:blipFill>
                <a:blip r:embed="rId2"/>
                <a:stretch>
                  <a:fillRect l="-928" t="-20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A4AA4-CB8B-A304-7334-2171DC32F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95663"/>
            <a:ext cx="5181600" cy="47813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MATLAB CODE - FOR LOOP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% Secant Method with for loop</a:t>
            </a:r>
          </a:p>
          <a:p>
            <a:pPr marL="0" indent="0">
              <a:buNone/>
            </a:pPr>
            <a:r>
              <a:rPr lang="en-US" dirty="0"/>
              <a:t>f = @(x) x - 2*sin(x);</a:t>
            </a:r>
          </a:p>
          <a:p>
            <a:pPr marL="0" indent="0">
              <a:buNone/>
            </a:pPr>
            <a:r>
              <a:rPr lang="en-US" dirty="0"/>
              <a:t>x0 = 2;</a:t>
            </a:r>
          </a:p>
          <a:p>
            <a:pPr marL="0" indent="0">
              <a:buNone/>
            </a:pPr>
            <a:r>
              <a:rPr lang="en-US" dirty="0"/>
              <a:t>x1 = 1.9;</a:t>
            </a:r>
          </a:p>
          <a:p>
            <a:pPr marL="0" indent="0">
              <a:buNone/>
            </a:pPr>
            <a:r>
              <a:rPr lang="en-US" dirty="0"/>
              <a:t>tol = 1e-5;</a:t>
            </a:r>
          </a:p>
          <a:p>
            <a:pPr marL="0" indent="0">
              <a:buNone/>
            </a:pPr>
            <a:r>
              <a:rPr lang="en-US" dirty="0"/>
              <a:t>maxIter = 100;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for n = 1: maxIter</a:t>
            </a:r>
          </a:p>
          <a:p>
            <a:pPr marL="0" indent="0">
              <a:buNone/>
            </a:pPr>
            <a:r>
              <a:rPr lang="en-US" dirty="0"/>
              <a:t>    x2 = x1 - f(x1) *(x1 - x0)/(f(x1) - f(x0));</a:t>
            </a:r>
          </a:p>
          <a:p>
            <a:pPr marL="0" indent="0">
              <a:buNone/>
            </a:pPr>
            <a:r>
              <a:rPr lang="en-US" dirty="0"/>
              <a:t>    if abs (x2 - x1) &lt; tol</a:t>
            </a:r>
          </a:p>
          <a:p>
            <a:pPr marL="0" indent="0">
              <a:buNone/>
            </a:pPr>
            <a:r>
              <a:rPr lang="en-US" dirty="0"/>
              <a:t>        break;</a:t>
            </a:r>
          </a:p>
          <a:p>
            <a:pPr marL="0" indent="0">
              <a:buNone/>
            </a:pPr>
            <a:r>
              <a:rPr lang="en-US" dirty="0"/>
              <a:t>    end</a:t>
            </a:r>
          </a:p>
          <a:p>
            <a:pPr marL="0" indent="0">
              <a:buNone/>
            </a:pPr>
            <a:r>
              <a:rPr lang="en-US" dirty="0"/>
              <a:t>    x0 = x1;</a:t>
            </a:r>
          </a:p>
          <a:p>
            <a:pPr marL="0" indent="0">
              <a:buNone/>
            </a:pPr>
            <a:r>
              <a:rPr lang="en-US" dirty="0"/>
              <a:t>    x1 = x2;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fprintf ('Root ≈ %.5f after %d iterations\n', x2, n);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1E94E-F655-8F92-EB8F-B59F9B58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95663"/>
            <a:ext cx="5181600" cy="47813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MATLAB CODE - WHILE LOOP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% Secant Method with while loop</a:t>
            </a:r>
          </a:p>
          <a:p>
            <a:pPr marL="0" indent="0">
              <a:buNone/>
            </a:pPr>
            <a:r>
              <a:rPr lang="en-US" dirty="0"/>
              <a:t>f = @(x) x - 2*sin(x);</a:t>
            </a:r>
          </a:p>
          <a:p>
            <a:pPr marL="0" indent="0">
              <a:buNone/>
            </a:pPr>
            <a:r>
              <a:rPr lang="en-US" dirty="0"/>
              <a:t>x0 = 2;</a:t>
            </a:r>
          </a:p>
          <a:p>
            <a:pPr marL="0" indent="0">
              <a:buNone/>
            </a:pPr>
            <a:r>
              <a:rPr lang="en-US" dirty="0"/>
              <a:t>x1 = 1.9;</a:t>
            </a:r>
          </a:p>
          <a:p>
            <a:pPr marL="0" indent="0">
              <a:buNone/>
            </a:pPr>
            <a:r>
              <a:rPr lang="en-US" dirty="0"/>
              <a:t>tol = 1e-5;</a:t>
            </a:r>
          </a:p>
          <a:p>
            <a:pPr marL="0" indent="0">
              <a:buNone/>
            </a:pPr>
            <a:r>
              <a:rPr lang="en-US" dirty="0"/>
              <a:t>maxIter = 100;</a:t>
            </a:r>
          </a:p>
          <a:p>
            <a:pPr marL="0" indent="0">
              <a:buNone/>
            </a:pPr>
            <a:r>
              <a:rPr lang="en-US" dirty="0"/>
              <a:t>iter = 0;</a:t>
            </a:r>
          </a:p>
          <a:p>
            <a:pPr marL="0" indent="0">
              <a:buNone/>
            </a:pPr>
            <a:r>
              <a:rPr lang="en-US" dirty="0"/>
              <a:t>while iter &lt; maxIter</a:t>
            </a:r>
          </a:p>
          <a:p>
            <a:pPr marL="0" indent="0">
              <a:buNone/>
            </a:pPr>
            <a:r>
              <a:rPr lang="en-US" dirty="0"/>
              <a:t>    x2 = x1 - f(x1) *(x1 - x0)/(f(x1) - f(x0));</a:t>
            </a:r>
          </a:p>
          <a:p>
            <a:pPr marL="0" indent="0">
              <a:buNone/>
            </a:pPr>
            <a:r>
              <a:rPr lang="en-US" dirty="0"/>
              <a:t>    if abs (x2 - x1) &lt; tol</a:t>
            </a:r>
          </a:p>
          <a:p>
            <a:pPr marL="0" indent="0">
              <a:buNone/>
            </a:pPr>
            <a:r>
              <a:rPr lang="en-US" dirty="0"/>
              <a:t>        break;</a:t>
            </a:r>
          </a:p>
          <a:p>
            <a:pPr marL="0" indent="0">
              <a:buNone/>
            </a:pPr>
            <a:r>
              <a:rPr lang="en-US" dirty="0"/>
              <a:t>    end</a:t>
            </a:r>
          </a:p>
          <a:p>
            <a:pPr marL="0" indent="0">
              <a:buNone/>
            </a:pPr>
            <a:r>
              <a:rPr lang="en-US" dirty="0"/>
              <a:t>    x0 = x1;</a:t>
            </a:r>
          </a:p>
          <a:p>
            <a:pPr marL="0" indent="0">
              <a:buNone/>
            </a:pPr>
            <a:r>
              <a:rPr lang="en-US" dirty="0"/>
              <a:t>    x1 = x2;</a:t>
            </a:r>
          </a:p>
          <a:p>
            <a:pPr marL="0" indent="0">
              <a:buNone/>
            </a:pPr>
            <a:r>
              <a:rPr lang="en-US" dirty="0"/>
              <a:t>    iter = iter + 1;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fprintf ('Root ≈ %.5f after %d iterations\n', x2, iter);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882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ECFF6-5AB9-B9EE-480A-9D435C8C0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705853"/>
            <a:ext cx="5181600" cy="547111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PSEUDOCODE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Input: initial guesses x0=2, x1=1.9, tolerance tol, max iterations N</a:t>
            </a:r>
          </a:p>
          <a:p>
            <a:pPr marL="0" indent="0">
              <a:buNone/>
            </a:pPr>
            <a:r>
              <a:rPr lang="en-US" dirty="0"/>
              <a:t>Output: approximate root</a:t>
            </a:r>
          </a:p>
          <a:p>
            <a:pPr marL="0" indent="0">
              <a:buNone/>
            </a:pPr>
            <a:r>
              <a:rPr lang="en-US" dirty="0"/>
              <a:t>Define f(x) = x - 2*sin(x)</a:t>
            </a:r>
          </a:p>
          <a:p>
            <a:pPr marL="0" indent="0">
              <a:buNone/>
            </a:pPr>
            <a:r>
              <a:rPr lang="en-US" dirty="0"/>
              <a:t>For k = 1 to N</a:t>
            </a:r>
          </a:p>
          <a:p>
            <a:pPr marL="0" indent="0">
              <a:buNone/>
            </a:pPr>
            <a:r>
              <a:rPr lang="en-US" dirty="0"/>
              <a:t>    x2 = x1 - f(x1) *(x1 - x0)/(f(x1) - f(x0))</a:t>
            </a:r>
          </a:p>
          <a:p>
            <a:pPr marL="0" indent="0">
              <a:buNone/>
            </a:pPr>
            <a:r>
              <a:rPr lang="en-US" dirty="0"/>
              <a:t>    If |x2 - x1| &lt; tol</a:t>
            </a:r>
          </a:p>
          <a:p>
            <a:pPr marL="0" indent="0">
              <a:buNone/>
            </a:pPr>
            <a:r>
              <a:rPr lang="en-US" dirty="0"/>
              <a:t>        Return x2</a:t>
            </a:r>
          </a:p>
          <a:p>
            <a:pPr marL="0" indent="0">
              <a:buNone/>
            </a:pPr>
            <a:r>
              <a:rPr lang="en-US" dirty="0"/>
              <a:t>    EndIf</a:t>
            </a:r>
          </a:p>
          <a:p>
            <a:pPr marL="0" indent="0">
              <a:buNone/>
            </a:pPr>
            <a:r>
              <a:rPr lang="en-US" dirty="0"/>
              <a:t>    x0 = x1</a:t>
            </a:r>
          </a:p>
          <a:p>
            <a:pPr marL="0" indent="0">
              <a:buNone/>
            </a:pPr>
            <a:r>
              <a:rPr lang="en-US" dirty="0"/>
              <a:t>    x1 = x2</a:t>
            </a:r>
          </a:p>
          <a:p>
            <a:pPr marL="0" indent="0">
              <a:buNone/>
            </a:pPr>
            <a:r>
              <a:rPr lang="en-US" dirty="0"/>
              <a:t>EndFor</a:t>
            </a:r>
          </a:p>
          <a:p>
            <a:pPr marL="0" indent="0">
              <a:buNone/>
            </a:pPr>
            <a:r>
              <a:rPr lang="en-US" dirty="0"/>
              <a:t>Return x2</a:t>
            </a:r>
          </a:p>
          <a:p>
            <a:pPr marL="0" indent="0">
              <a:buNone/>
            </a:pPr>
            <a:r>
              <a:rPr lang="en-US" dirty="0"/>
              <a:t>EndAlgorithm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8C58B4-BF3E-4D2E-DFAC-0807756600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1" b="8163"/>
          <a:stretch>
            <a:fillRect/>
          </a:stretch>
        </p:blipFill>
        <p:spPr bwMode="auto">
          <a:xfrm>
            <a:off x="6664746" y="706438"/>
            <a:ext cx="4196507" cy="54705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41345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15DF111-964F-ABDF-9157-2D8294D63D1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789907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1800" b="1" dirty="0"/>
                  <a:t>3) </a:t>
                </a:r>
                <a:r>
                  <a:rPr lang="en-US" sz="1800" b="1" u="sng" dirty="0"/>
                  <a:t>RUNGE-KUTTA METHOD</a:t>
                </a:r>
                <a:br>
                  <a:rPr lang="en-US" sz="1800" b="1" dirty="0"/>
                </a:br>
                <a:r>
                  <a:rPr lang="en-US" sz="1800" b="1" dirty="0"/>
                  <a:t>Use the fourth order Runge – Kutta algorithm with step size h = 0.2 to solve the initial value problem;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𝒅𝒚</m:t>
                        </m:r>
                      </m:num>
                      <m:den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𝒅𝒙</m:t>
                        </m:r>
                      </m:den>
                    </m:f>
                  </m:oMath>
                </a14:m>
                <a:r>
                  <a:rPr lang="en-US" sz="1800" b="1" dirty="0"/>
                  <a:t> + 2y =sin 3x with y (0) =1 in the interval 0 ≤ X ≤ 2.4.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15DF111-964F-ABDF-9157-2D8294D63D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789907"/>
              </a:xfrm>
              <a:blipFill>
                <a:blip r:embed="rId2"/>
                <a:stretch>
                  <a:fillRect l="-348" t="-44186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EAC7E-DB04-0057-C04B-6E42050A4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62526"/>
            <a:ext cx="5181600" cy="5214437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US" sz="3700" b="1" dirty="0"/>
          </a:p>
          <a:p>
            <a:pPr marL="0" indent="0">
              <a:buNone/>
            </a:pPr>
            <a:r>
              <a:rPr lang="en-US" sz="3700" b="1" dirty="0"/>
              <a:t>MATLAB CODE USING FOR LOOP</a:t>
            </a:r>
            <a:endParaRPr lang="en-US" sz="3700" dirty="0"/>
          </a:p>
          <a:p>
            <a:pPr marL="0" indent="0">
              <a:buNone/>
            </a:pPr>
            <a:r>
              <a:rPr lang="en-US" sz="3700" dirty="0"/>
              <a:t>% RK4 Method with for loop</a:t>
            </a:r>
          </a:p>
          <a:p>
            <a:pPr marL="0" indent="0">
              <a:buNone/>
            </a:pPr>
            <a:r>
              <a:rPr lang="en-US" sz="3700" dirty="0"/>
              <a:t>f = @ (x, y) sin(3*x) - 2*y;</a:t>
            </a:r>
          </a:p>
          <a:p>
            <a:pPr marL="0" indent="0">
              <a:buNone/>
            </a:pPr>
            <a:r>
              <a:rPr lang="en-US" sz="3700" dirty="0"/>
              <a:t> </a:t>
            </a:r>
          </a:p>
          <a:p>
            <a:pPr marL="0" indent="0">
              <a:buNone/>
            </a:pPr>
            <a:r>
              <a:rPr lang="en-US" sz="3700" dirty="0"/>
              <a:t>h = 0.2;              % step size</a:t>
            </a:r>
          </a:p>
          <a:p>
            <a:pPr marL="0" indent="0">
              <a:buNone/>
            </a:pPr>
            <a:r>
              <a:rPr lang="en-US" sz="3700" dirty="0"/>
              <a:t>x = 0:h:2.4;         % interval</a:t>
            </a:r>
          </a:p>
          <a:p>
            <a:pPr marL="0" indent="0">
              <a:buNone/>
            </a:pPr>
            <a:r>
              <a:rPr lang="en-US" sz="3700" dirty="0"/>
              <a:t>N = length(x);</a:t>
            </a:r>
          </a:p>
          <a:p>
            <a:pPr marL="0" indent="0">
              <a:buNone/>
            </a:pPr>
            <a:r>
              <a:rPr lang="en-US" sz="3700" dirty="0"/>
              <a:t>y = zeros (1, N);</a:t>
            </a:r>
          </a:p>
          <a:p>
            <a:pPr marL="0" indent="0">
              <a:buNone/>
            </a:pPr>
            <a:r>
              <a:rPr lang="en-US" sz="3700" dirty="0"/>
              <a:t>y (1) = 1;            % initial condition</a:t>
            </a:r>
          </a:p>
          <a:p>
            <a:pPr marL="0" indent="0">
              <a:buNone/>
            </a:pPr>
            <a:r>
              <a:rPr lang="en-US" sz="3700" dirty="0"/>
              <a:t> </a:t>
            </a:r>
          </a:p>
          <a:p>
            <a:pPr marL="0" indent="0">
              <a:buNone/>
            </a:pPr>
            <a:r>
              <a:rPr lang="en-US" sz="3700" dirty="0"/>
              <a:t>for n = 1: N-1</a:t>
            </a:r>
          </a:p>
          <a:p>
            <a:pPr marL="0" indent="0">
              <a:buNone/>
            </a:pPr>
            <a:r>
              <a:rPr lang="en-US" sz="3700" dirty="0"/>
              <a:t>    k1 = h * f(x(n), y(n));</a:t>
            </a:r>
          </a:p>
          <a:p>
            <a:pPr marL="0" indent="0">
              <a:buNone/>
            </a:pPr>
            <a:r>
              <a:rPr lang="en-US" sz="3700" dirty="0"/>
              <a:t>    k2 = h * f(x(n) + h/2, y(n) + k1/2);</a:t>
            </a:r>
          </a:p>
          <a:p>
            <a:pPr marL="0" indent="0">
              <a:buNone/>
            </a:pPr>
            <a:r>
              <a:rPr lang="en-US" sz="3700" dirty="0"/>
              <a:t>    k3 = h * f(x(n) + h/2, y(n) + k2/2);</a:t>
            </a:r>
          </a:p>
          <a:p>
            <a:pPr marL="0" indent="0">
              <a:buNone/>
            </a:pPr>
            <a:r>
              <a:rPr lang="en-US" sz="3700" dirty="0"/>
              <a:t>    k4 = h * f(x(n) + h, y(n) + k3);</a:t>
            </a:r>
          </a:p>
          <a:p>
            <a:pPr marL="0" indent="0">
              <a:buNone/>
            </a:pPr>
            <a:r>
              <a:rPr lang="en-US" sz="3700" dirty="0"/>
              <a:t>     y(n+1) = y(n) + (k1 + 2*k2 + 2*k3 + k4)/6;</a:t>
            </a:r>
          </a:p>
          <a:p>
            <a:pPr marL="0" indent="0">
              <a:buNone/>
            </a:pPr>
            <a:r>
              <a:rPr lang="en-US" sz="3700" dirty="0"/>
              <a:t>end</a:t>
            </a:r>
          </a:p>
          <a:p>
            <a:pPr marL="0" indent="0">
              <a:buNone/>
            </a:pPr>
            <a:r>
              <a:rPr lang="en-US" sz="3700" dirty="0"/>
              <a:t>disp ('  x     y');</a:t>
            </a:r>
          </a:p>
          <a:p>
            <a:pPr marL="0" indent="0">
              <a:buNone/>
            </a:pPr>
            <a:r>
              <a:rPr lang="en-US" sz="3700" dirty="0"/>
              <a:t>disp ([x' y']);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1BCCD-7E67-D724-90D2-BFCE11127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62526"/>
            <a:ext cx="5181600" cy="5214437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b="1" dirty="0"/>
              <a:t>MATLAB CODE USING WHILE LOOP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% RK4 Method with while loop</a:t>
            </a:r>
          </a:p>
          <a:p>
            <a:pPr marL="0" indent="0">
              <a:buNone/>
            </a:pPr>
            <a:r>
              <a:rPr lang="en-US" dirty="0"/>
              <a:t>f = @(x,y) sin(3*x) - 2*y;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h = 0.2;</a:t>
            </a:r>
          </a:p>
          <a:p>
            <a:pPr marL="0" indent="0">
              <a:buNone/>
            </a:pPr>
            <a:r>
              <a:rPr lang="en-US" dirty="0"/>
              <a:t>x = 0:h:2.4;</a:t>
            </a:r>
          </a:p>
          <a:p>
            <a:pPr marL="0" indent="0">
              <a:buNone/>
            </a:pPr>
            <a:r>
              <a:rPr lang="en-US" dirty="0"/>
              <a:t>N = length(x);</a:t>
            </a:r>
          </a:p>
          <a:p>
            <a:pPr marL="0" indent="0">
              <a:buNone/>
            </a:pPr>
            <a:r>
              <a:rPr lang="en-US" dirty="0"/>
              <a:t>y = zeros(1,N);</a:t>
            </a:r>
          </a:p>
          <a:p>
            <a:pPr marL="0" indent="0">
              <a:buNone/>
            </a:pPr>
            <a:r>
              <a:rPr lang="en-US" dirty="0"/>
              <a:t>y(1) = 1;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n = 1;</a:t>
            </a:r>
          </a:p>
          <a:p>
            <a:pPr marL="0" indent="0">
              <a:buNone/>
            </a:pPr>
            <a:r>
              <a:rPr lang="en-US" dirty="0"/>
              <a:t>while n &lt; N</a:t>
            </a:r>
          </a:p>
          <a:p>
            <a:pPr marL="0" indent="0">
              <a:buNone/>
            </a:pPr>
            <a:r>
              <a:rPr lang="en-US" dirty="0"/>
              <a:t>    k1 = h * f(x(n), y(n));</a:t>
            </a:r>
          </a:p>
          <a:p>
            <a:pPr marL="0" indent="0">
              <a:buNone/>
            </a:pPr>
            <a:r>
              <a:rPr lang="en-US" dirty="0"/>
              <a:t>    k2 = h * f(x(n) + h/2, y(n) + k1/2);</a:t>
            </a:r>
          </a:p>
          <a:p>
            <a:pPr marL="0" indent="0">
              <a:buNone/>
            </a:pPr>
            <a:r>
              <a:rPr lang="en-US" dirty="0"/>
              <a:t>    k3 = h * f(x(n) + h/2, y(n) + k2/2);</a:t>
            </a:r>
          </a:p>
          <a:p>
            <a:pPr marL="0" indent="0">
              <a:buNone/>
            </a:pPr>
            <a:r>
              <a:rPr lang="en-US" dirty="0"/>
              <a:t>    k4 = h * f(x(n) + h, y(n) + k3);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y(n+1) = y(n) + (k1 + 2*k2 + 2*k3 + k4)/6;</a:t>
            </a:r>
          </a:p>
          <a:p>
            <a:pPr marL="0" indent="0">
              <a:buNone/>
            </a:pPr>
            <a:r>
              <a:rPr lang="en-US" dirty="0"/>
              <a:t>    n = n + 1;</a:t>
            </a:r>
          </a:p>
          <a:p>
            <a:pPr marL="0" indent="0">
              <a:buNone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disp ('   x         y');</a:t>
            </a:r>
          </a:p>
          <a:p>
            <a:pPr marL="0" indent="0">
              <a:buNone/>
            </a:pPr>
            <a:r>
              <a:rPr lang="en-US" dirty="0"/>
              <a:t>disp ([x' y']);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394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C1BD-208E-8360-A97E-BED74EDC6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42616"/>
          </a:xfrm>
        </p:spPr>
        <p:txBody>
          <a:bodyPr>
            <a:normAutofit fontScale="90000"/>
          </a:bodyPr>
          <a:lstStyle/>
          <a:p>
            <a:r>
              <a:rPr lang="en-US" sz="2200" b="1" dirty="0">
                <a:latin typeface="+mn-lt"/>
              </a:rPr>
              <a:t>Pseudocode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Algorithm RK4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Input: step size h, interval [0,2.4], initial condition y (0) =1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Output: approximate solution y(x)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 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Define f (x, y) = sin(3x) - 2y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Set x0 = 0, y0 = 1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Repeat until x reaches 2.4: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    k1 = h * f (x, y)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    k2 = h * f (x + h/2, y + k1/2)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    k3 = h * f (x + h/2, y + k2/2)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    k4 = h * f (x + h, y + k3)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    y = y + (k1 + 2*k2 + 2*k3 + k4)/6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    x = x + h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EndRepeat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Return values of y at each x</a:t>
            </a:r>
            <a:br>
              <a:rPr lang="en-US" sz="2200" dirty="0">
                <a:latin typeface="+mn-lt"/>
              </a:rPr>
            </a:br>
            <a:r>
              <a:rPr lang="en-US" sz="2200" dirty="0">
                <a:latin typeface="+mn-lt"/>
              </a:rPr>
              <a:t>EndAlgorithm</a:t>
            </a: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2068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B2B30C-49BD-10AB-3DE2-C599478361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45" b="7231"/>
          <a:stretch>
            <a:fillRect/>
          </a:stretch>
        </p:blipFill>
        <p:spPr bwMode="auto">
          <a:xfrm>
            <a:off x="1362075" y="773733"/>
            <a:ext cx="9991725" cy="53105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20091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1535</Words>
  <Application>Microsoft Office PowerPoint</Application>
  <PresentationFormat>Widescreen</PresentationFormat>
  <Paragraphs>165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NUMERICAL ANALYSIS 1  GROUP 3 MAE</vt:lpstr>
      <vt:lpstr>PowerPoint Presentation</vt:lpstr>
      <vt:lpstr>PowerPoint Presentation</vt:lpstr>
      <vt:lpstr>PowerPoint Presentation</vt:lpstr>
      <vt:lpstr>2) SECANT METHOD Find the positive solution of f(x) = x – 2sinx = 0 by the secant method, starting with  x_0= 2 and x_1= 1.9 </vt:lpstr>
      <vt:lpstr>PowerPoint Presentation</vt:lpstr>
      <vt:lpstr>3) RUNGE-KUTTA METHOD Use the fourth order Runge – Kutta algorithm with step size h = 0.2 to solve the initial value problem; dy/dx + 2y =sin 3x with y (0) =1 in the interval 0 ≤ X ≤ 2.4. </vt:lpstr>
      <vt:lpstr>Pseudocode Algorithm RK4 Input: step size h, interval [0,2.4], initial condition y (0) =1 Output: approximate solution y(x)   Define f (x, y) = sin(3x) - 2y Set x0 = 0, y0 = 1 Repeat until x reaches 2.4:     k1 = h * f (x, y)     k2 = h * f (x + h/2, y + k1/2)     k3 = h * f (x + h/2, y + k2/2)     k4 = h * f (x + h, y + k3)     y = y + (k1 + 2*k2 + 2*k3 + k4)/6     x = x + h EndRepeat Return values of y at each x EndAlgorithm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racheal nakakande</dc:creator>
  <cp:lastModifiedBy>racheal nakakande</cp:lastModifiedBy>
  <cp:revision>2</cp:revision>
  <dcterms:created xsi:type="dcterms:W3CDTF">2026-09-28T18:10:30Z</dcterms:created>
  <dcterms:modified xsi:type="dcterms:W3CDTF">2026-09-29T06:15:37Z</dcterms:modified>
</cp:coreProperties>
</file>